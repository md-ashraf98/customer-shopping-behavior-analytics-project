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Funnel Display"/>
      <p:regular r:id="rId201314"/>
    </p:embeddedFont>
    <p:embeddedFont>
      <p:font typeface="Funnel Display Bold"/>
      <p:regular r:id="rId201315"/>
    </p:embeddedFont>
    <p:embeddedFont>
      <p:font typeface="Funnel Sans Bold"/>
      <p:regular r:id="rId201316"/>
    </p:embeddedFont>
    <p:embeddedFont>
      <p:font typeface="Funnel Sans"/>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5E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AF5EB">
              <a:alpha val="8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AF5EB"/>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slideLayout" Target="../slideLayouts/slideLayout3.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image" Target="../media/image-11-7.png"/><Relationship Id="rId8" Type="http://schemas.openxmlformats.org/officeDocument/2006/relationships/slideLayout" Target="../slideLayouts/slideLayout3.xml"/><Relationship Id="rId9"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98036" y="2637576"/>
            <a:ext cx="10795524" cy="513259"/>
          </a:xfrm>
          <a:prstGeom prst="rect">
            <a:avLst/>
          </a:prstGeom>
          <a:noFill/>
          <a:ln/>
        </p:spPr>
        <p:txBody>
          <a:bodyPr wrap="none" lIns="0" tIns="0" rIns="0" bIns="0" rtlCol="0" anchor="t"/>
          <a:lstStyle/>
          <a:p>
            <a:pPr algn="ctr" indent="0" marL="0">
              <a:lnSpc>
                <a:spcPct val="104000"/>
              </a:lnSpc>
              <a:buNone/>
            </a:pPr>
            <a:r>
              <a:rPr lang="en-US" sz="3200" b="1" spc="-27" kern="100" dirty="0">
                <a:solidFill>
                  <a:srgbClr val="051D3A"/>
                </a:solidFill>
                <a:latin typeface="Funnel Display Bold" pitchFamily="34" charset="0"/>
                <a:ea typeface="Funnel Display Bold" pitchFamily="34" charset="-122"/>
                <a:cs typeface="Funnel Display Bold" pitchFamily="34" charset="-120"/>
              </a:rPr>
              <a:t>Customer Shopping Behavior </a:t>
            </a:r>
            <a:endParaRPr lang="en-US" sz="3200" dirty="0"/>
          </a:p>
        </p:txBody>
      </p:sp>
      <p:sp>
        <p:nvSpPr>
          <p:cNvPr id="3" name="Text 1"/>
          <p:cNvSpPr/>
          <p:nvPr/>
        </p:nvSpPr>
        <p:spPr>
          <a:xfrm>
            <a:off x="698036" y="3220586"/>
            <a:ext cx="10795524" cy="513259"/>
          </a:xfrm>
          <a:prstGeom prst="rect">
            <a:avLst/>
          </a:prstGeom>
          <a:noFill/>
          <a:ln/>
        </p:spPr>
        <p:txBody>
          <a:bodyPr wrap="none" lIns="0" tIns="0" rIns="0" bIns="0" rtlCol="0" anchor="t"/>
          <a:lstStyle/>
          <a:p>
            <a:pPr algn="ctr" indent="0" marL="0">
              <a:lnSpc>
                <a:spcPct val="104000"/>
              </a:lnSpc>
              <a:buNone/>
            </a:pPr>
            <a:r>
              <a:rPr lang="en-US" sz="3200" b="1" spc="-27" kern="100" dirty="0">
                <a:solidFill>
                  <a:srgbClr val="051D3A"/>
                </a:solidFill>
                <a:latin typeface="Funnel Display Bold" pitchFamily="34" charset="0"/>
                <a:ea typeface="Funnel Display Bold" pitchFamily="34" charset="-122"/>
                <a:cs typeface="Funnel Display Bold" pitchFamily="34" charset="-120"/>
              </a:rPr>
              <a:t>Analytics Project</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8086" y="1562244"/>
            <a:ext cx="10795524" cy="513259"/>
          </a:xfrm>
          <a:prstGeom prst="rect">
            <a:avLst/>
          </a:prstGeom>
          <a:noFill/>
          <a:ln/>
        </p:spPr>
        <p:txBody>
          <a:bodyPr wrap="none" lIns="0" tIns="0" rIns="0" bIns="0" rtlCol="0" anchor="t"/>
          <a:lstStyle/>
          <a:p>
            <a:pPr algn="l" indent="0" marL="0">
              <a:lnSpc>
                <a:spcPct val="104000"/>
              </a:lnSpc>
              <a:buNone/>
            </a:pPr>
            <a:r>
              <a:rPr lang="en-US" sz="3200" b="1" spc="-27" kern="100" dirty="0">
                <a:solidFill>
                  <a:srgbClr val="A0522D"/>
                </a:solidFill>
                <a:latin typeface="Funnel Display Bold" pitchFamily="34" charset="0"/>
                <a:ea typeface="Funnel Display Bold" pitchFamily="34" charset="-122"/>
                <a:cs typeface="Funnel Display Bold" pitchFamily="34" charset="-120"/>
              </a:rPr>
              <a:t>                   Customer Shopping Behavior Analysis  </a:t>
            </a:r>
            <a:endParaRPr lang="en-US" sz="3200" dirty="0"/>
          </a:p>
        </p:txBody>
      </p:sp>
      <p:sp>
        <p:nvSpPr>
          <p:cNvPr id="3" name="Text 1"/>
          <p:cNvSpPr/>
          <p:nvPr/>
        </p:nvSpPr>
        <p:spPr>
          <a:xfrm>
            <a:off x="698086" y="2145253"/>
            <a:ext cx="10795524" cy="513259"/>
          </a:xfrm>
          <a:prstGeom prst="rect">
            <a:avLst/>
          </a:prstGeom>
          <a:noFill/>
          <a:ln/>
        </p:spPr>
        <p:txBody>
          <a:bodyPr wrap="none" lIns="0" tIns="0" rIns="0" bIns="0" rtlCol="0" anchor="t"/>
          <a:lstStyle/>
          <a:p>
            <a:pPr algn="l" indent="0" marL="0">
              <a:lnSpc>
                <a:spcPct val="104000"/>
              </a:lnSpc>
              <a:buNone/>
            </a:pPr>
            <a:r>
              <a:rPr lang="en-US" sz="3200" b="1" spc="-27" kern="100" dirty="0">
                <a:solidFill>
                  <a:srgbClr val="A0522D"/>
                </a:solidFill>
                <a:latin typeface="Funnel Display Bold" pitchFamily="34" charset="0"/>
                <a:ea typeface="Funnel Display Bold" pitchFamily="34" charset="-122"/>
                <a:cs typeface="Funnel Display Bold" pitchFamily="34" charset="-120"/>
              </a:rPr>
              <a:t>                                        Executive Summary</a:t>
            </a:r>
            <a:endParaRPr lang="en-US" sz="3200" dirty="0"/>
          </a:p>
        </p:txBody>
      </p:sp>
      <p:sp>
        <p:nvSpPr>
          <p:cNvPr id="4" name="Text 2"/>
          <p:cNvSpPr/>
          <p:nvPr/>
        </p:nvSpPr>
        <p:spPr>
          <a:xfrm>
            <a:off x="698086" y="2893020"/>
            <a:ext cx="10795524" cy="2429966"/>
          </a:xfrm>
          <a:prstGeom prst="rect">
            <a:avLst/>
          </a:prstGeom>
          <a:noFill/>
          <a:ln/>
        </p:spPr>
        <p:txBody>
          <a:bodyPr wrap="square" lIns="0" tIns="0" rIns="0" bIns="0" rtlCol="0" anchor="t">
            <a:normAutofit/>
          </a:bodyPr>
          <a:lstStyle/>
          <a:p>
            <a:pPr algn="l" indent="0" marL="0">
              <a:lnSpc>
                <a:spcPct val="133000"/>
              </a:lnSpc>
              <a:spcAft>
                <a:spcPts val="1500"/>
              </a:spcAft>
              <a:buNone/>
            </a:pPr>
            <a:r>
              <a:rPr lang="en-US" sz="1350" spc="-27" kern="100" dirty="0">
                <a:solidFill>
                  <a:srgbClr val="8A7A6A"/>
                </a:solidFill>
                <a:latin typeface="Funnel Sans" pitchFamily="34" charset="0"/>
                <a:ea typeface="Funnel Sans" pitchFamily="34" charset="-122"/>
                <a:cs typeface="Funnel Sans" pitchFamily="34" charset="-120"/>
              </a:rPr>
              <a:t>This report analyses 3,900 customer transactions to explain how customers shop, what drives revenue, and where growth opportunities sit. The deliverable includes analytical findings and an interactive Power BI dashboard (report date: 18 October 2026). Nine business questions were answered covering revenue drivers, discounts, subscriptions, shipping, product performance and loyalty.</a:t>
            </a:r>
            <a:endParaRPr lang="en-US" sz="1350" dirty="0"/>
          </a:p>
          <a:p>
            <a:pPr algn="l" indent="0" marL="0">
              <a:lnSpc>
                <a:spcPct val="133000"/>
              </a:lnSpc>
              <a:buNone/>
            </a:pPr>
            <a:r>
              <a:rPr lang="en-US" sz="1350" spc="-27" kern="100" dirty="0">
                <a:solidFill>
                  <a:srgbClr val="A0522D"/>
                </a:solidFill>
                <a:latin typeface="Funnel Sans" pitchFamily="34" charset="0"/>
                <a:ea typeface="Funnel Sans" pitchFamily="34" charset="-122"/>
                <a:cs typeface="Funnel Sans" pitchFamily="34" charset="-120"/>
              </a:rPr>
              <a:t>Headline findings:</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Male customers generated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$157,890 (67.7%) </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of $233,081 total revenue while females generated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$75,191 (32.3%)</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even though avg. spend per transaction is nearly identical ($59.54 male vs $60.25 female). Discounts do not shrink baskets: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839</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discounted customers still spent above the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$59.76</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average (avg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$79.79</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Subscribers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27%</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of customers) do not spend more per purchase. The base is mature: only 83 new customers (2.1%), 1,882 Returning and 1,935 Loyal. Express shipping customers spend slightly more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$60.48 vs $58.46</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Repeat buyers show only marginally higher subscription rates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27.6% vs 22.4%</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69971" y="722754"/>
            <a:ext cx="6223638" cy="513259"/>
          </a:xfrm>
          <a:prstGeom prst="rect">
            <a:avLst/>
          </a:prstGeom>
          <a:noFill/>
          <a:ln/>
        </p:spPr>
        <p:txBody>
          <a:bodyPr wrap="none" lIns="0" tIns="0" rIns="0" bIns="0" rtlCol="0" anchor="t"/>
          <a:lstStyle/>
          <a:p>
            <a:pPr algn="l" indent="0" marL="0">
              <a:lnSpc>
                <a:spcPct val="104000"/>
              </a:lnSpc>
              <a:buNone/>
            </a:pPr>
            <a:r>
              <a:rPr lang="en-US" sz="3200" b="1" spc="-27" kern="100" dirty="0">
                <a:solidFill>
                  <a:srgbClr val="B5562F"/>
                </a:solidFill>
                <a:latin typeface="Funnel Display Bold" pitchFamily="34" charset="0"/>
                <a:ea typeface="Funnel Display Bold" pitchFamily="34" charset="-122"/>
                <a:cs typeface="Funnel Display Bold" pitchFamily="34" charset="-120"/>
              </a:rPr>
              <a:t>Business Problem &amp; Objectives</a:t>
            </a:r>
            <a:endParaRPr lang="en-US" sz="3200" dirty="0"/>
          </a:p>
        </p:txBody>
      </p:sp>
      <p:sp>
        <p:nvSpPr>
          <p:cNvPr id="4" name="Shape 1"/>
          <p:cNvSpPr/>
          <p:nvPr/>
        </p:nvSpPr>
        <p:spPr>
          <a:xfrm>
            <a:off x="5269971" y="1470521"/>
            <a:ext cx="3024509" cy="2956719"/>
          </a:xfrm>
          <a:prstGeom prst="roundRect">
            <a:avLst>
              <a:gd name="adj" fmla="val 2479"/>
            </a:avLst>
          </a:prstGeom>
          <a:solidFill>
            <a:srgbClr val="FAF5EB"/>
          </a:solidFill>
          <a:ln w="6350">
            <a:solidFill>
              <a:srgbClr val="D5CDBE"/>
            </a:solidFill>
            <a:prstDash val="solid"/>
          </a:ln>
        </p:spPr>
      </p:sp>
      <p:sp>
        <p:nvSpPr>
          <p:cNvPr id="5" name="Text 2"/>
          <p:cNvSpPr/>
          <p:nvPr/>
        </p:nvSpPr>
        <p:spPr>
          <a:xfrm>
            <a:off x="5450843" y="1651397"/>
            <a:ext cx="2662766"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5562F"/>
                </a:solidFill>
                <a:latin typeface="Funnel Display" pitchFamily="34" charset="0"/>
                <a:ea typeface="Funnel Display" pitchFamily="34" charset="-122"/>
                <a:cs typeface="Funnel Display" pitchFamily="34" charset="-120"/>
              </a:rPr>
              <a:t>Background</a:t>
            </a:r>
            <a:endParaRPr lang="en-US" sz="1600" dirty="0"/>
          </a:p>
        </p:txBody>
      </p:sp>
      <p:sp>
        <p:nvSpPr>
          <p:cNvPr id="6" name="Text 3"/>
          <p:cNvSpPr/>
          <p:nvPr/>
        </p:nvSpPr>
        <p:spPr>
          <a:xfrm>
            <a:off x="5450843" y="2012752"/>
            <a:ext cx="2662766" cy="2233613"/>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A leading retailer sees shifting purchase patterns by demographics, category and channel and needs to know which factors (discounts, reviews, seasons, payment preferences) influence purchase decisions and repeat buying.</a:t>
            </a:r>
            <a:endParaRPr lang="en-US" sz="1350" dirty="0"/>
          </a:p>
        </p:txBody>
      </p:sp>
      <p:sp>
        <p:nvSpPr>
          <p:cNvPr id="7" name="Shape 4"/>
          <p:cNvSpPr/>
          <p:nvPr/>
        </p:nvSpPr>
        <p:spPr>
          <a:xfrm>
            <a:off x="8469001" y="1470521"/>
            <a:ext cx="3024608" cy="2956719"/>
          </a:xfrm>
          <a:prstGeom prst="roundRect">
            <a:avLst>
              <a:gd name="adj" fmla="val 2479"/>
            </a:avLst>
          </a:prstGeom>
          <a:solidFill>
            <a:srgbClr val="FAF5EB"/>
          </a:solidFill>
          <a:ln w="6350">
            <a:solidFill>
              <a:srgbClr val="D5CDBE"/>
            </a:solidFill>
            <a:prstDash val="solid"/>
          </a:ln>
        </p:spPr>
      </p:sp>
      <p:sp>
        <p:nvSpPr>
          <p:cNvPr id="8" name="Text 5"/>
          <p:cNvSpPr/>
          <p:nvPr/>
        </p:nvSpPr>
        <p:spPr>
          <a:xfrm>
            <a:off x="8649873" y="1651397"/>
            <a:ext cx="2662865"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5562F"/>
                </a:solidFill>
                <a:latin typeface="Funnel Display" pitchFamily="34" charset="0"/>
                <a:ea typeface="Funnel Display" pitchFamily="34" charset="-122"/>
                <a:cs typeface="Funnel Display" pitchFamily="34" charset="-120"/>
              </a:rPr>
              <a:t>Core Question</a:t>
            </a:r>
            <a:endParaRPr lang="en-US" sz="1600" dirty="0"/>
          </a:p>
        </p:txBody>
      </p:sp>
      <p:sp>
        <p:nvSpPr>
          <p:cNvPr id="9" name="Text 6"/>
          <p:cNvSpPr/>
          <p:nvPr/>
        </p:nvSpPr>
        <p:spPr>
          <a:xfrm>
            <a:off x="8649873" y="2012752"/>
            <a:ext cx="2662865" cy="1396008"/>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How can the company leverage customer shopping data to identify trends, improve engagement, and optimise marketing and product strategies?</a:t>
            </a:r>
            <a:endParaRPr lang="en-US" sz="1350" dirty="0"/>
          </a:p>
        </p:txBody>
      </p:sp>
      <p:sp>
        <p:nvSpPr>
          <p:cNvPr id="10" name="Shape 7"/>
          <p:cNvSpPr/>
          <p:nvPr/>
        </p:nvSpPr>
        <p:spPr>
          <a:xfrm>
            <a:off x="5269971" y="4601766"/>
            <a:ext cx="6223638" cy="1560711"/>
          </a:xfrm>
          <a:prstGeom prst="roundRect">
            <a:avLst>
              <a:gd name="adj" fmla="val 4697"/>
            </a:avLst>
          </a:prstGeom>
          <a:solidFill>
            <a:srgbClr val="FAF5EB"/>
          </a:solidFill>
          <a:ln w="6350">
            <a:solidFill>
              <a:srgbClr val="D5CDBE"/>
            </a:solidFill>
            <a:prstDash val="solid"/>
          </a:ln>
        </p:spPr>
      </p:sp>
      <p:sp>
        <p:nvSpPr>
          <p:cNvPr id="11" name="Text 8"/>
          <p:cNvSpPr/>
          <p:nvPr/>
        </p:nvSpPr>
        <p:spPr>
          <a:xfrm>
            <a:off x="5450843" y="4782641"/>
            <a:ext cx="5861896"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5562F"/>
                </a:solidFill>
                <a:latin typeface="Funnel Display" pitchFamily="34" charset="0"/>
                <a:ea typeface="Funnel Display" pitchFamily="34" charset="-122"/>
                <a:cs typeface="Funnel Display" pitchFamily="34" charset="-120"/>
              </a:rPr>
              <a:t>Primary Objective</a:t>
            </a:r>
            <a:endParaRPr lang="en-US" sz="1600" dirty="0"/>
          </a:p>
        </p:txBody>
      </p:sp>
      <p:sp>
        <p:nvSpPr>
          <p:cNvPr id="12" name="Text 9"/>
          <p:cNvSpPr/>
          <p:nvPr/>
        </p:nvSpPr>
        <p:spPr>
          <a:xfrm>
            <a:off x="5450843" y="5143996"/>
            <a:ext cx="5861896" cy="837605"/>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Convert raw data into actionable insight to guide marketing, product and customer-engagement decisions and deliver an interactive Power BI dashboard for stakeholders.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1457469"/>
            <a:ext cx="6223638" cy="1026517"/>
          </a:xfrm>
          <a:prstGeom prst="rect">
            <a:avLst/>
          </a:prstGeom>
          <a:noFill/>
          <a:ln/>
        </p:spPr>
        <p:txBody>
          <a:bodyPr wrap="square" lIns="0" tIns="0" rIns="0" bIns="0" rtlCol="0" anchor="t">
            <a:normAutofit/>
          </a:bodyPr>
          <a:lstStyle/>
          <a:p>
            <a:pPr algn="l" indent="0" marL="0">
              <a:lnSpc>
                <a:spcPct val="104000"/>
              </a:lnSpc>
              <a:buNone/>
            </a:pPr>
            <a:r>
              <a:rPr lang="en-US" sz="3200" b="1" spc="-27" kern="100" dirty="0">
                <a:solidFill>
                  <a:srgbClr val="051D3A"/>
                </a:solidFill>
                <a:latin typeface="Funnel Display Bold" pitchFamily="34" charset="0"/>
                <a:ea typeface="Funnel Display Bold" pitchFamily="34" charset="-122"/>
                <a:cs typeface="Funnel Display Bold" pitchFamily="34" charset="-120"/>
              </a:rPr>
              <a:t>Dataset Overview — What’s Inside</a:t>
            </a:r>
            <a:endParaRPr lang="en-US" sz="3200" dirty="0"/>
          </a:p>
        </p:txBody>
      </p:sp>
      <p:sp>
        <p:nvSpPr>
          <p:cNvPr id="4" name="Text 1"/>
          <p:cNvSpPr/>
          <p:nvPr/>
        </p:nvSpPr>
        <p:spPr>
          <a:xfrm>
            <a:off x="698086" y="2718495"/>
            <a:ext cx="6223638" cy="2709168"/>
          </a:xfrm>
          <a:prstGeom prst="rect">
            <a:avLst/>
          </a:prstGeom>
          <a:noFill/>
          <a:ln/>
        </p:spPr>
        <p:txBody>
          <a:bodyPr wrap="square" lIns="0" tIns="0" rIns="0" bIns="0" rtlCol="0" anchor="t"/>
          <a:lstStyle/>
          <a:p>
            <a:pPr algn="l" indent="0" marL="0">
              <a:lnSpc>
                <a:spcPct val="133000"/>
              </a:lnSpc>
              <a:spcAft>
                <a:spcPts val="1500"/>
              </a:spcAft>
              <a:buNone/>
            </a:pPr>
            <a:r>
              <a:rPr lang="en-US" sz="1350" b="1" spc="-27" kern="100" dirty="0">
                <a:solidFill>
                  <a:srgbClr val="C0654A"/>
                </a:solidFill>
                <a:latin typeface="Funnel Sans Bold" pitchFamily="34" charset="0"/>
                <a:ea typeface="Funnel Sans Bold" pitchFamily="34" charset="-122"/>
                <a:cs typeface="Funnel Sans Bold" pitchFamily="34" charset="-120"/>
              </a:rPr>
              <a:t>Dataset Scope</a:t>
            </a:r>
            <a:endParaRPr lang="en-US" sz="1350" dirty="0"/>
          </a:p>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The dataset has 3,900 transactions (one per customer) with 18 attributes grouped into five areas: Customer profile (age, gender, location), Product (item, category, size, colour), Purchase (amount, season, payment, shipping), Engagement (rating, subscription status, discount, previous purchases, frequency). Key metrics: total revenue $233,081; avg purchase $59.76 (range $20–$100); avg review 3.75/5; customers aged 18–70 (avg 44); gender: Male 68% (2,652), Female 32% (1,248); category mix: Clothing 44.5%, Accessories 31.8%, Footwear 15.4%, Outerwear 8.3%; subscribers 27%; transactions with discount 43%.</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036" y="857394"/>
            <a:ext cx="10795524" cy="513259"/>
          </a:xfrm>
          <a:prstGeom prst="rect">
            <a:avLst/>
          </a:prstGeom>
          <a:noFill/>
          <a:ln/>
        </p:spPr>
        <p:txBody>
          <a:bodyPr wrap="none" lIns="0" tIns="0" rIns="0" bIns="0" rtlCol="0" anchor="t"/>
          <a:lstStyle/>
          <a:p>
            <a:pPr algn="ctr" indent="0" marL="0">
              <a:lnSpc>
                <a:spcPct val="104000"/>
              </a:lnSpc>
              <a:buNone/>
            </a:pPr>
            <a:r>
              <a:rPr lang="en-US" sz="3200" b="1" spc="-27" kern="100" dirty="0">
                <a:solidFill>
                  <a:srgbClr val="B5562F"/>
                </a:solidFill>
                <a:latin typeface="Funnel Display Bold" pitchFamily="34" charset="0"/>
                <a:ea typeface="Funnel Display Bold" pitchFamily="34" charset="-122"/>
                <a:cs typeface="Funnel Display Bold" pitchFamily="34" charset="-120"/>
              </a:rPr>
              <a:t>Approach — How We Answered the Questions</a:t>
            </a:r>
            <a:endParaRPr lang="en-US" sz="32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692473"/>
            <a:ext cx="436353" cy="436364"/>
          </a:xfrm>
          <a:prstGeom prst="rect">
            <a:avLst/>
          </a:prstGeom>
        </p:spPr>
      </p:pic>
      <p:sp>
        <p:nvSpPr>
          <p:cNvPr id="4" name="Text 1"/>
          <p:cNvSpPr/>
          <p:nvPr/>
        </p:nvSpPr>
        <p:spPr>
          <a:xfrm>
            <a:off x="698086" y="2347020"/>
            <a:ext cx="3453024"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5562F"/>
                </a:solidFill>
                <a:latin typeface="Funnel Display" pitchFamily="34" charset="0"/>
                <a:ea typeface="Funnel Display" pitchFamily="34" charset="-122"/>
                <a:cs typeface="Funnel Display" pitchFamily="34" charset="-120"/>
              </a:rPr>
              <a:t>Step 1 — Define</a:t>
            </a:r>
            <a:endParaRPr lang="en-US" sz="1600" dirty="0"/>
          </a:p>
        </p:txBody>
      </p:sp>
      <p:sp>
        <p:nvSpPr>
          <p:cNvPr id="5" name="Text 2"/>
          <p:cNvSpPr/>
          <p:nvPr/>
        </p:nvSpPr>
        <p:spPr>
          <a:xfrm>
            <a:off x="698086" y="2708374"/>
            <a:ext cx="3453024" cy="558403"/>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Clarified business questions and objectives with stakeholders.</a:t>
            </a:r>
            <a:endParaRPr lang="en-US" sz="13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69286" y="1692473"/>
            <a:ext cx="436353" cy="436364"/>
          </a:xfrm>
          <a:prstGeom prst="rect">
            <a:avLst/>
          </a:prstGeom>
        </p:spPr>
      </p:pic>
      <p:sp>
        <p:nvSpPr>
          <p:cNvPr id="7" name="Text 3"/>
          <p:cNvSpPr/>
          <p:nvPr/>
        </p:nvSpPr>
        <p:spPr>
          <a:xfrm>
            <a:off x="4369286" y="2347020"/>
            <a:ext cx="3453024"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5562F"/>
                </a:solidFill>
                <a:latin typeface="Funnel Display" pitchFamily="34" charset="0"/>
                <a:ea typeface="Funnel Display" pitchFamily="34" charset="-122"/>
                <a:cs typeface="Funnel Display" pitchFamily="34" charset="-120"/>
              </a:rPr>
              <a:t>Step 2 — Collect &amp; Prepare</a:t>
            </a:r>
            <a:endParaRPr lang="en-US" sz="1600" dirty="0"/>
          </a:p>
        </p:txBody>
      </p:sp>
      <p:sp>
        <p:nvSpPr>
          <p:cNvPr id="8" name="Text 4"/>
          <p:cNvSpPr/>
          <p:nvPr/>
        </p:nvSpPr>
        <p:spPr>
          <a:xfrm>
            <a:off x="4369286" y="2708374"/>
            <a:ext cx="3453024" cy="1116806"/>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Assembled and cleaned the dataset (duplicates checked; &lt;1% missing ratings handled); created age bands and frequency measures.</a:t>
            </a:r>
            <a:endParaRPr lang="en-US" sz="13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0486" y="1692473"/>
            <a:ext cx="436353" cy="436364"/>
          </a:xfrm>
          <a:prstGeom prst="rect">
            <a:avLst/>
          </a:prstGeom>
        </p:spPr>
      </p:pic>
      <p:sp>
        <p:nvSpPr>
          <p:cNvPr id="10" name="Text 5"/>
          <p:cNvSpPr/>
          <p:nvPr/>
        </p:nvSpPr>
        <p:spPr>
          <a:xfrm>
            <a:off x="8040486" y="2347020"/>
            <a:ext cx="3453123"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5562F"/>
                </a:solidFill>
                <a:latin typeface="Funnel Display" pitchFamily="34" charset="0"/>
                <a:ea typeface="Funnel Display" pitchFamily="34" charset="-122"/>
                <a:cs typeface="Funnel Display" pitchFamily="34" charset="-120"/>
              </a:rPr>
              <a:t>Step 3 — Analyze</a:t>
            </a:r>
            <a:endParaRPr lang="en-US" sz="1600" dirty="0"/>
          </a:p>
        </p:txBody>
      </p:sp>
      <p:sp>
        <p:nvSpPr>
          <p:cNvPr id="11" name="Text 6"/>
          <p:cNvSpPr/>
          <p:nvPr/>
        </p:nvSpPr>
        <p:spPr>
          <a:xfrm>
            <a:off x="8040486" y="2708374"/>
            <a:ext cx="3453123" cy="837605"/>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Performed analysis with Python and SQL to answer business questions and generate visualizations.</a:t>
            </a:r>
            <a:endParaRPr lang="en-US" sz="13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8086" y="4174232"/>
            <a:ext cx="436353" cy="436364"/>
          </a:xfrm>
          <a:prstGeom prst="rect">
            <a:avLst/>
          </a:prstGeom>
        </p:spPr>
      </p:pic>
      <p:sp>
        <p:nvSpPr>
          <p:cNvPr id="13" name="Text 7"/>
          <p:cNvSpPr/>
          <p:nvPr/>
        </p:nvSpPr>
        <p:spPr>
          <a:xfrm>
            <a:off x="698086" y="4828778"/>
            <a:ext cx="3453024"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5562F"/>
                </a:solidFill>
                <a:latin typeface="Funnel Display" pitchFamily="34" charset="0"/>
                <a:ea typeface="Funnel Display" pitchFamily="34" charset="-122"/>
                <a:cs typeface="Funnel Display" pitchFamily="34" charset="-120"/>
              </a:rPr>
              <a:t>Step 4 — Dashboard</a:t>
            </a:r>
            <a:endParaRPr lang="en-US" sz="1600" dirty="0"/>
          </a:p>
        </p:txBody>
      </p:sp>
      <p:sp>
        <p:nvSpPr>
          <p:cNvPr id="14" name="Text 8"/>
          <p:cNvSpPr/>
          <p:nvPr/>
        </p:nvSpPr>
        <p:spPr>
          <a:xfrm>
            <a:off x="698086" y="5190133"/>
            <a:ext cx="3453024" cy="558403"/>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Built a Power BI dashboard to let stakeholders explore KPIs, filters and charts interactively.</a:t>
            </a:r>
            <a:endParaRPr lang="en-US" sz="13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69286" y="4174232"/>
            <a:ext cx="436353" cy="436364"/>
          </a:xfrm>
          <a:prstGeom prst="rect">
            <a:avLst/>
          </a:prstGeom>
        </p:spPr>
      </p:pic>
      <p:sp>
        <p:nvSpPr>
          <p:cNvPr id="16" name="Text 9"/>
          <p:cNvSpPr/>
          <p:nvPr/>
        </p:nvSpPr>
        <p:spPr>
          <a:xfrm>
            <a:off x="4369286" y="4828778"/>
            <a:ext cx="3453024"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5562F"/>
                </a:solidFill>
                <a:latin typeface="Funnel Display" pitchFamily="34" charset="0"/>
                <a:ea typeface="Funnel Display" pitchFamily="34" charset="-122"/>
                <a:cs typeface="Funnel Display" pitchFamily="34" charset="-120"/>
              </a:rPr>
              <a:t>Step 5 — Translate</a:t>
            </a:r>
            <a:endParaRPr lang="en-US" sz="1600" dirty="0"/>
          </a:p>
        </p:txBody>
      </p:sp>
      <p:sp>
        <p:nvSpPr>
          <p:cNvPr id="17" name="Text 10"/>
          <p:cNvSpPr/>
          <p:nvPr/>
        </p:nvSpPr>
        <p:spPr>
          <a:xfrm>
            <a:off x="4369286" y="5190133"/>
            <a:ext cx="3453024" cy="837605"/>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Produced findings and tested recommendations for marketing, promotions, subscription and product actions.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086" y="1727542"/>
            <a:ext cx="10795524" cy="513259"/>
          </a:xfrm>
          <a:prstGeom prst="rect">
            <a:avLst/>
          </a:prstGeom>
          <a:noFill/>
          <a:ln/>
        </p:spPr>
        <p:txBody>
          <a:bodyPr wrap="none" lIns="0" tIns="0" rIns="0" bIns="0" rtlCol="0" anchor="t"/>
          <a:lstStyle/>
          <a:p>
            <a:pPr algn="l" indent="0" marL="0">
              <a:lnSpc>
                <a:spcPct val="104000"/>
              </a:lnSpc>
              <a:buNone/>
            </a:pPr>
            <a:r>
              <a:rPr lang="en-US" sz="3200" b="1" spc="-27" kern="100" dirty="0">
                <a:solidFill>
                  <a:srgbClr val="051D3A"/>
                </a:solidFill>
                <a:latin typeface="Funnel Display Bold" pitchFamily="34" charset="0"/>
                <a:ea typeface="Funnel Display Bold" pitchFamily="34" charset="-122"/>
                <a:cs typeface="Funnel Display Bold" pitchFamily="34" charset="-120"/>
              </a:rPr>
              <a:t>Key Findings — Revenue, Discounts &amp; Subscriptions</a:t>
            </a:r>
            <a:endParaRPr lang="en-US" sz="3200" dirty="0"/>
          </a:p>
        </p:txBody>
      </p:sp>
      <p:pic>
        <p:nvPicPr>
          <p:cNvPr id="3" name="Image 0" descr="preencoded.png">    </p:cNvPr>
          <p:cNvPicPr>
            <a:picLocks noChangeAspect="1"/>
          </p:cNvPicPr>
          <p:nvPr/>
        </p:nvPicPr>
        <p:blipFill>
          <a:blip r:embed="rId1"/>
          <a:stretch>
            <a:fillRect/>
          </a:stretch>
        </p:blipFill>
        <p:spPr>
          <a:xfrm>
            <a:off x="698086" y="2562622"/>
            <a:ext cx="1001291" cy="1251645"/>
          </a:xfrm>
          <a:prstGeom prst="rect">
            <a:avLst/>
          </a:prstGeom>
        </p:spPr>
      </p:pic>
      <p:sp>
        <p:nvSpPr>
          <p:cNvPr id="4" name="Text 1"/>
          <p:cNvSpPr/>
          <p:nvPr/>
        </p:nvSpPr>
        <p:spPr>
          <a:xfrm>
            <a:off x="1917553" y="2562622"/>
            <a:ext cx="2233557"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5651D"/>
                </a:solidFill>
                <a:latin typeface="Funnel Display" pitchFamily="34" charset="0"/>
                <a:ea typeface="Funnel Display" pitchFamily="34" charset="-122"/>
                <a:cs typeface="Funnel Display" pitchFamily="34" charset="-120"/>
              </a:rPr>
              <a:t>Gender &amp; Revenue</a:t>
            </a:r>
            <a:endParaRPr lang="en-US" sz="1600" dirty="0"/>
          </a:p>
        </p:txBody>
      </p:sp>
      <p:sp>
        <p:nvSpPr>
          <p:cNvPr id="5" name="Text 2"/>
          <p:cNvSpPr/>
          <p:nvPr/>
        </p:nvSpPr>
        <p:spPr>
          <a:xfrm>
            <a:off x="1917553" y="2923977"/>
            <a:ext cx="2233557" cy="2233613"/>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Male customers: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$157,890 (67.7%)</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vs Female: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$75,191 (32.3%)</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Avg purchase nearly identical ($59.54 male, $60.25 female). Gap driven by volume, not spend per order — opportunity to grow female base.</a:t>
            </a:r>
            <a:endParaRPr lang="en-US" sz="1350" dirty="0"/>
          </a:p>
        </p:txBody>
      </p:sp>
      <p:pic>
        <p:nvPicPr>
          <p:cNvPr id="6" name="Image 1" descr="preencoded.png">    </p:cNvPr>
          <p:cNvPicPr>
            <a:picLocks noChangeAspect="1"/>
          </p:cNvPicPr>
          <p:nvPr/>
        </p:nvPicPr>
        <p:blipFill>
          <a:blip r:embed="rId2"/>
          <a:stretch>
            <a:fillRect/>
          </a:stretch>
        </p:blipFill>
        <p:spPr>
          <a:xfrm>
            <a:off x="4369286" y="2562622"/>
            <a:ext cx="1001291" cy="1251645"/>
          </a:xfrm>
          <a:prstGeom prst="rect">
            <a:avLst/>
          </a:prstGeom>
        </p:spPr>
      </p:pic>
      <p:sp>
        <p:nvSpPr>
          <p:cNvPr id="7" name="Text 3"/>
          <p:cNvSpPr/>
          <p:nvPr/>
        </p:nvSpPr>
        <p:spPr>
          <a:xfrm>
            <a:off x="5588753" y="2562622"/>
            <a:ext cx="2233557"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5651D"/>
                </a:solidFill>
                <a:latin typeface="Funnel Display" pitchFamily="34" charset="0"/>
                <a:ea typeface="Funnel Display" pitchFamily="34" charset="-122"/>
                <a:cs typeface="Funnel Display" pitchFamily="34" charset="-120"/>
              </a:rPr>
              <a:t>Discounts</a:t>
            </a:r>
            <a:endParaRPr lang="en-US" sz="1600" dirty="0"/>
          </a:p>
        </p:txBody>
      </p:sp>
      <p:sp>
        <p:nvSpPr>
          <p:cNvPr id="8" name="Text 4"/>
          <p:cNvSpPr/>
          <p:nvPr/>
        </p:nvSpPr>
        <p:spPr>
          <a:xfrm>
            <a:off x="5588753" y="2923977"/>
            <a:ext cx="2233557" cy="1675209"/>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839 customers used discounts and still spent above the $59.76 avg (avg $79.79). Discounts do not shrink baskets and represent a low-risk conversion lever.</a:t>
            </a:r>
            <a:endParaRPr lang="en-US" sz="1350" dirty="0"/>
          </a:p>
        </p:txBody>
      </p:sp>
      <p:pic>
        <p:nvPicPr>
          <p:cNvPr id="9" name="Image 2" descr="preencoded.png">    </p:cNvPr>
          <p:cNvPicPr>
            <a:picLocks noChangeAspect="1"/>
          </p:cNvPicPr>
          <p:nvPr/>
        </p:nvPicPr>
        <p:blipFill>
          <a:blip r:embed="rId3"/>
          <a:stretch>
            <a:fillRect/>
          </a:stretch>
        </p:blipFill>
        <p:spPr>
          <a:xfrm>
            <a:off x="8040486" y="2562622"/>
            <a:ext cx="1001390" cy="1251744"/>
          </a:xfrm>
          <a:prstGeom prst="rect">
            <a:avLst/>
          </a:prstGeom>
        </p:spPr>
      </p:pic>
      <p:sp>
        <p:nvSpPr>
          <p:cNvPr id="10" name="Text 5"/>
          <p:cNvSpPr/>
          <p:nvPr/>
        </p:nvSpPr>
        <p:spPr>
          <a:xfrm>
            <a:off x="9260053" y="2562622"/>
            <a:ext cx="2233557"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5651D"/>
                </a:solidFill>
                <a:latin typeface="Funnel Display" pitchFamily="34" charset="0"/>
                <a:ea typeface="Funnel Display" pitchFamily="34" charset="-122"/>
                <a:cs typeface="Funnel Display" pitchFamily="34" charset="-120"/>
              </a:rPr>
              <a:t>Subscribers</a:t>
            </a:r>
            <a:endParaRPr lang="en-US" sz="1600" dirty="0"/>
          </a:p>
        </p:txBody>
      </p:sp>
      <p:sp>
        <p:nvSpPr>
          <p:cNvPr id="11" name="Text 6"/>
          <p:cNvSpPr/>
          <p:nvPr/>
        </p:nvSpPr>
        <p:spPr>
          <a:xfrm>
            <a:off x="9260053" y="2923977"/>
            <a:ext cx="2233557" cy="1954411"/>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Subscribers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(1,053; 27.0%) </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average $59.49 vs non-subscribers $59.87. Subscription does not currently lift spend per order; judge the programm on retention and frequency.</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8086" y="491949"/>
            <a:ext cx="10795524" cy="256679"/>
          </a:xfrm>
          <a:prstGeom prst="rect">
            <a:avLst/>
          </a:prstGeom>
          <a:noFill/>
          <a:ln/>
        </p:spPr>
        <p:txBody>
          <a:bodyPr wrap="none" lIns="0" tIns="0" rIns="0" bIns="0" rtlCol="0" anchor="t"/>
          <a:lstStyle/>
          <a:p>
            <a:pPr algn="l" indent="0" marL="0">
              <a:lnSpc>
                <a:spcPct val="104000"/>
              </a:lnSpc>
              <a:buNone/>
            </a:pPr>
            <a:r>
              <a:rPr lang="en-US" sz="1600" b="1" spc="-14" kern="100" dirty="0">
                <a:solidFill>
                  <a:srgbClr val="051D3A"/>
                </a:solidFill>
                <a:latin typeface="Funnel Display Bold" pitchFamily="34" charset="0"/>
                <a:ea typeface="Funnel Display Bold" pitchFamily="34" charset="-122"/>
                <a:cs typeface="Funnel Display Bold" pitchFamily="34" charset="-120"/>
              </a:rPr>
              <a:t>Product Performance &amp; Shipping Insights</a:t>
            </a:r>
            <a:endParaRPr lang="en-US" sz="1600" dirty="0"/>
          </a:p>
        </p:txBody>
      </p:sp>
      <p:sp>
        <p:nvSpPr>
          <p:cNvPr id="3" name="Text 1"/>
          <p:cNvSpPr/>
          <p:nvPr/>
        </p:nvSpPr>
        <p:spPr>
          <a:xfrm>
            <a:off x="698086" y="851556"/>
            <a:ext cx="5291303" cy="128290"/>
          </a:xfrm>
          <a:prstGeom prst="rect">
            <a:avLst/>
          </a:prstGeom>
          <a:noFill/>
          <a:ln/>
        </p:spPr>
        <p:txBody>
          <a:bodyPr wrap="none" lIns="0" tIns="0" rIns="0" bIns="0" rtlCol="0" anchor="t"/>
          <a:lstStyle/>
          <a:p>
            <a:pPr algn="l" indent="0" marL="0">
              <a:lnSpc>
                <a:spcPct val="104000"/>
              </a:lnSpc>
              <a:buNone/>
            </a:pPr>
            <a:r>
              <a:rPr lang="en-US" sz="800" spc="-14" kern="100" dirty="0">
                <a:solidFill>
                  <a:srgbClr val="C0553A"/>
                </a:solidFill>
                <a:latin typeface="Funnel Display" pitchFamily="34" charset="0"/>
                <a:ea typeface="Funnel Display" pitchFamily="34" charset="-122"/>
                <a:cs typeface="Funnel Display" pitchFamily="34" charset="-120"/>
              </a:rPr>
              <a:t>Top-rated products</a:t>
            </a:r>
            <a:endParaRPr lang="en-US" sz="800" dirty="0"/>
          </a:p>
        </p:txBody>
      </p:sp>
      <p:sp>
        <p:nvSpPr>
          <p:cNvPr id="4" name="Text 2"/>
          <p:cNvSpPr/>
          <p:nvPr/>
        </p:nvSpPr>
        <p:spPr>
          <a:xfrm>
            <a:off x="698086" y="1018431"/>
            <a:ext cx="5291303" cy="209550"/>
          </a:xfrm>
          <a:prstGeom prst="rect">
            <a:avLst/>
          </a:prstGeom>
          <a:noFill/>
          <a:ln/>
        </p:spPr>
        <p:txBody>
          <a:bodyPr wrap="square" lIns="0" tIns="0" rIns="0" bIns="0" rtlCol="0" anchor="t">
            <a:normAutofit/>
          </a:bodyPr>
          <a:lstStyle/>
          <a:p>
            <a:pPr algn="l" indent="0" marL="0">
              <a:lnSpc>
                <a:spcPct val="100000"/>
              </a:lnSpc>
              <a:buNone/>
            </a:pPr>
            <a:r>
              <a:rPr lang="en-US" sz="650" spc="-14" kern="100" dirty="0">
                <a:solidFill>
                  <a:srgbClr val="2B3541"/>
                </a:solidFill>
                <a:latin typeface="Funnel Sans" pitchFamily="34" charset="0"/>
                <a:ea typeface="Funnel Sans" pitchFamily="34" charset="-122"/>
                <a:cs typeface="Funnel Sans" pitchFamily="34" charset="-120"/>
              </a:rPr>
              <a:t>Top 5 by average review: Gloves 3.86, Sandals 3.84, Boots 3.82, Hat 3.80, T‑shirt 3.78. Overall spread is narrow (close to 3.75), indicating consistent satisfaction.</a:t>
            </a:r>
            <a:endParaRPr lang="en-US" sz="650" dirty="0"/>
          </a:p>
        </p:txBody>
      </p:sp>
      <p:pic>
        <p:nvPicPr>
          <p:cNvPr id="5" name="Image 0" descr="preencoded.png">    </p:cNvPr>
          <p:cNvPicPr>
            <a:picLocks noChangeAspect="1"/>
          </p:cNvPicPr>
          <p:nvPr/>
        </p:nvPicPr>
        <p:blipFill>
          <a:blip r:embed="rId1"/>
          <a:stretch>
            <a:fillRect/>
          </a:stretch>
        </p:blipFill>
        <p:spPr>
          <a:xfrm>
            <a:off x="698086" y="1275953"/>
            <a:ext cx="5291303" cy="5291435"/>
          </a:xfrm>
          <a:prstGeom prst="rect">
            <a:avLst/>
          </a:prstGeom>
        </p:spPr>
      </p:pic>
      <p:sp>
        <p:nvSpPr>
          <p:cNvPr id="6" name="Text 3"/>
          <p:cNvSpPr/>
          <p:nvPr/>
        </p:nvSpPr>
        <p:spPr>
          <a:xfrm>
            <a:off x="6208656" y="851556"/>
            <a:ext cx="5291303" cy="128290"/>
          </a:xfrm>
          <a:prstGeom prst="rect">
            <a:avLst/>
          </a:prstGeom>
          <a:noFill/>
          <a:ln/>
        </p:spPr>
        <p:txBody>
          <a:bodyPr wrap="none" lIns="0" tIns="0" rIns="0" bIns="0" rtlCol="0" anchor="t"/>
          <a:lstStyle/>
          <a:p>
            <a:pPr algn="l" indent="0" marL="0">
              <a:lnSpc>
                <a:spcPct val="104000"/>
              </a:lnSpc>
              <a:buNone/>
            </a:pPr>
            <a:r>
              <a:rPr lang="en-US" sz="800" spc="-14" kern="100" dirty="0">
                <a:solidFill>
                  <a:srgbClr val="C0553A"/>
                </a:solidFill>
                <a:latin typeface="Funnel Display" pitchFamily="34" charset="0"/>
                <a:ea typeface="Funnel Display" pitchFamily="34" charset="-122"/>
                <a:cs typeface="Funnel Display" pitchFamily="34" charset="-120"/>
              </a:rPr>
              <a:t>Shipping</a:t>
            </a:r>
            <a:endParaRPr lang="en-US" sz="800" dirty="0"/>
          </a:p>
        </p:txBody>
      </p:sp>
      <p:sp>
        <p:nvSpPr>
          <p:cNvPr id="7" name="Text 4"/>
          <p:cNvSpPr/>
          <p:nvPr/>
        </p:nvSpPr>
        <p:spPr>
          <a:xfrm>
            <a:off x="6208656" y="1018431"/>
            <a:ext cx="5291303" cy="209550"/>
          </a:xfrm>
          <a:prstGeom prst="rect">
            <a:avLst/>
          </a:prstGeom>
          <a:noFill/>
          <a:ln/>
        </p:spPr>
        <p:txBody>
          <a:bodyPr wrap="square" lIns="0" tIns="0" rIns="0" bIns="0" rtlCol="0" anchor="t">
            <a:normAutofit/>
          </a:bodyPr>
          <a:lstStyle/>
          <a:p>
            <a:pPr algn="l" indent="0" marL="0">
              <a:lnSpc>
                <a:spcPct val="100000"/>
              </a:lnSpc>
              <a:buNone/>
            </a:pPr>
            <a:r>
              <a:rPr lang="en-US" sz="650" spc="-14" kern="100" dirty="0">
                <a:solidFill>
                  <a:srgbClr val="2B3541"/>
                </a:solidFill>
                <a:latin typeface="Funnel Sans" pitchFamily="34" charset="0"/>
                <a:ea typeface="Funnel Sans" pitchFamily="34" charset="-122"/>
                <a:cs typeface="Funnel Sans" pitchFamily="34" charset="-120"/>
              </a:rPr>
              <a:t>Express customers spend $60.48 vs Standard $58.46 (+$2.02, ~3.5%). Paying for speed signals slightly higher commitment — promote Express at checkout or as a threshold incentive.</a:t>
            </a:r>
            <a:endParaRPr lang="en-US" sz="650" dirty="0"/>
          </a:p>
        </p:txBody>
      </p:sp>
      <p:pic>
        <p:nvPicPr>
          <p:cNvPr id="8" name="Image 1" descr="preencoded.png">    </p:cNvPr>
          <p:cNvPicPr>
            <a:picLocks noChangeAspect="1"/>
          </p:cNvPicPr>
          <p:nvPr/>
        </p:nvPicPr>
        <p:blipFill>
          <a:blip r:embed="rId2"/>
          <a:stretch>
            <a:fillRect/>
          </a:stretch>
        </p:blipFill>
        <p:spPr>
          <a:xfrm>
            <a:off x="6208656" y="1275953"/>
            <a:ext cx="5291303" cy="52914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086" y="2006744"/>
            <a:ext cx="10795524" cy="513259"/>
          </a:xfrm>
          <a:prstGeom prst="rect">
            <a:avLst/>
          </a:prstGeom>
          <a:noFill/>
          <a:ln/>
        </p:spPr>
        <p:txBody>
          <a:bodyPr wrap="none" lIns="0" tIns="0" rIns="0" bIns="0" rtlCol="0" anchor="t"/>
          <a:lstStyle/>
          <a:p>
            <a:pPr algn="l" indent="0" marL="0">
              <a:lnSpc>
                <a:spcPct val="104000"/>
              </a:lnSpc>
              <a:buNone/>
            </a:pPr>
            <a:r>
              <a:rPr lang="en-US" sz="3200" b="1" spc="-27" kern="100" dirty="0">
                <a:solidFill>
                  <a:srgbClr val="C2410C"/>
                </a:solidFill>
                <a:latin typeface="Funnel Display Bold" pitchFamily="34" charset="0"/>
                <a:ea typeface="Funnel Display Bold" pitchFamily="34" charset="-122"/>
                <a:cs typeface="Funnel Display Bold" pitchFamily="34" charset="-120"/>
              </a:rPr>
              <a:t>Customer Segments &amp; Top Products by Category</a:t>
            </a:r>
            <a:endParaRPr lang="en-US" sz="3200" dirty="0"/>
          </a:p>
        </p:txBody>
      </p:sp>
      <p:pic>
        <p:nvPicPr>
          <p:cNvPr id="3" name="Image 0" descr="preencoded.png">    </p:cNvPr>
          <p:cNvPicPr>
            <a:picLocks noChangeAspect="1"/>
          </p:cNvPicPr>
          <p:nvPr/>
        </p:nvPicPr>
        <p:blipFill>
          <a:blip r:embed="rId1"/>
          <a:stretch>
            <a:fillRect/>
          </a:stretch>
        </p:blipFill>
        <p:spPr>
          <a:xfrm>
            <a:off x="698086" y="2841823"/>
            <a:ext cx="1533685" cy="1917105"/>
          </a:xfrm>
          <a:prstGeom prst="rect">
            <a:avLst/>
          </a:prstGeom>
        </p:spPr>
      </p:pic>
      <p:sp>
        <p:nvSpPr>
          <p:cNvPr id="4" name="Text 1"/>
          <p:cNvSpPr/>
          <p:nvPr/>
        </p:nvSpPr>
        <p:spPr>
          <a:xfrm>
            <a:off x="2449947" y="2841823"/>
            <a:ext cx="3536762"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C2410C"/>
                </a:solidFill>
                <a:latin typeface="Funnel Display" pitchFamily="34" charset="0"/>
                <a:ea typeface="Funnel Display" pitchFamily="34" charset="-122"/>
                <a:cs typeface="Funnel Display" pitchFamily="34" charset="-120"/>
              </a:rPr>
              <a:t>Segmentation</a:t>
            </a:r>
            <a:endParaRPr lang="en-US" sz="1600" dirty="0"/>
          </a:p>
        </p:txBody>
      </p:sp>
      <p:sp>
        <p:nvSpPr>
          <p:cNvPr id="5" name="Text 2"/>
          <p:cNvSpPr/>
          <p:nvPr/>
        </p:nvSpPr>
        <p:spPr>
          <a:xfrm>
            <a:off x="2449947" y="3203178"/>
            <a:ext cx="3536762" cy="1396008"/>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New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83 (2.1%)</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Returning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1,882 (48.3%)</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Loyal </a:t>
            </a:r>
            <a:pPr algn="l" indent="0" marL="0">
              <a:lnSpc>
                <a:spcPct val="133000"/>
              </a:lnSpc>
              <a:buNone/>
            </a:pPr>
            <a:r>
              <a:rPr lang="en-US" sz="1350" b="1" spc="-27" kern="100" dirty="0">
                <a:solidFill>
                  <a:srgbClr val="2B3541"/>
                </a:solidFill>
                <a:latin typeface="Funnel Sans Bold" pitchFamily="34" charset="0"/>
                <a:ea typeface="Funnel Sans Bold" pitchFamily="34" charset="-122"/>
                <a:cs typeface="Funnel Sans Bold" pitchFamily="34" charset="-120"/>
              </a:rPr>
              <a:t>1,935 (49.6%)</a:t>
            </a:r>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 Nearly 98% have made at least two purchases — the problem is acquisition, not retention. No VIPs (0 with &gt;50 purchases); recalibrate VIP thresholds if needed.</a:t>
            </a:r>
            <a:endParaRPr lang="en-US" sz="1350" dirty="0"/>
          </a:p>
        </p:txBody>
      </p:sp>
      <p:pic>
        <p:nvPicPr>
          <p:cNvPr id="6" name="Image 1" descr="preencoded.png">    </p:cNvPr>
          <p:cNvPicPr>
            <a:picLocks noChangeAspect="1"/>
          </p:cNvPicPr>
          <p:nvPr/>
        </p:nvPicPr>
        <p:blipFill>
          <a:blip r:embed="rId2"/>
          <a:stretch>
            <a:fillRect/>
          </a:stretch>
        </p:blipFill>
        <p:spPr>
          <a:xfrm>
            <a:off x="6204886" y="2841823"/>
            <a:ext cx="1533685" cy="1917105"/>
          </a:xfrm>
          <a:prstGeom prst="rect">
            <a:avLst/>
          </a:prstGeom>
        </p:spPr>
      </p:pic>
      <p:sp>
        <p:nvSpPr>
          <p:cNvPr id="7" name="Text 3"/>
          <p:cNvSpPr/>
          <p:nvPr/>
        </p:nvSpPr>
        <p:spPr>
          <a:xfrm>
            <a:off x="7956748" y="2841823"/>
            <a:ext cx="3536862"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C2410C"/>
                </a:solidFill>
                <a:latin typeface="Funnel Display" pitchFamily="34" charset="0"/>
                <a:ea typeface="Funnel Display" pitchFamily="34" charset="-122"/>
                <a:cs typeface="Funnel Display" pitchFamily="34" charset="-120"/>
              </a:rPr>
              <a:t>Top products</a:t>
            </a:r>
            <a:endParaRPr lang="en-US" sz="1600" dirty="0"/>
          </a:p>
        </p:txBody>
      </p:sp>
      <p:sp>
        <p:nvSpPr>
          <p:cNvPr id="8" name="Text 4"/>
          <p:cNvSpPr/>
          <p:nvPr/>
        </p:nvSpPr>
        <p:spPr>
          <a:xfrm>
            <a:off x="7956748" y="3203178"/>
            <a:ext cx="3536862" cy="1675209"/>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Top sellers: Accessories — Jewelry, Sunglasses, Belt (≈171/161 each). Clothing — Pants, Blouse, Shirt (≈171/169). Footwear — Sandals, Shoes, Sneakers (≈160/150/145). Outerwear — Jacket, Coat (163/161). No single hero product dominates; demand is evenly spread.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507548"/>
            <a:ext cx="6223638" cy="1026517"/>
          </a:xfrm>
          <a:prstGeom prst="rect">
            <a:avLst/>
          </a:prstGeom>
          <a:noFill/>
          <a:ln/>
        </p:spPr>
        <p:txBody>
          <a:bodyPr wrap="square" lIns="0" tIns="0" rIns="0" bIns="0" rtlCol="0" anchor="t">
            <a:normAutofit/>
          </a:bodyPr>
          <a:lstStyle/>
          <a:p>
            <a:pPr algn="l" indent="0" marL="0">
              <a:lnSpc>
                <a:spcPct val="104000"/>
              </a:lnSpc>
              <a:buNone/>
            </a:pPr>
            <a:r>
              <a:rPr lang="en-US" sz="3200" b="1" spc="-27" kern="100" dirty="0">
                <a:solidFill>
                  <a:srgbClr val="C2410C"/>
                </a:solidFill>
                <a:latin typeface="Funnel Display Bold" pitchFamily="34" charset="0"/>
                <a:ea typeface="Funnel Display Bold" pitchFamily="34" charset="-122"/>
                <a:cs typeface="Funnel Display Bold" pitchFamily="34" charset="-120"/>
              </a:rPr>
              <a:t>Repeat Buyers &amp; Subscription Opportunity</a:t>
            </a:r>
            <a:endParaRPr lang="en-US" sz="3200" dirty="0"/>
          </a:p>
        </p:txBody>
      </p:sp>
      <p:sp>
        <p:nvSpPr>
          <p:cNvPr id="4" name="Text 1"/>
          <p:cNvSpPr/>
          <p:nvPr/>
        </p:nvSpPr>
        <p:spPr>
          <a:xfrm>
            <a:off x="698086" y="1768574"/>
            <a:ext cx="6223638" cy="1116806"/>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Repeat buyers (more than 5 previous purchases) total 3,476. Among them 958 subscribe (27.6%) while customers with 5 or fewer purchases have a 22.4% subscription rate. In absolute terms there are roughly 2,500 repeat buyers who are not subscribed — the most obvious target for a subscription acquisition campaign.</a:t>
            </a:r>
            <a:endParaRPr lang="en-US" sz="1350" dirty="0"/>
          </a:p>
        </p:txBody>
      </p:sp>
      <p:sp>
        <p:nvSpPr>
          <p:cNvPr id="5" name="Shape 2"/>
          <p:cNvSpPr/>
          <p:nvPr/>
        </p:nvSpPr>
        <p:spPr>
          <a:xfrm>
            <a:off x="698086" y="3081734"/>
            <a:ext cx="6223638" cy="1560711"/>
          </a:xfrm>
          <a:prstGeom prst="roundRect">
            <a:avLst>
              <a:gd name="adj" fmla="val 4697"/>
            </a:avLst>
          </a:prstGeom>
          <a:solidFill>
            <a:srgbClr val="FAF5EB"/>
          </a:solidFill>
          <a:ln w="6350">
            <a:solidFill>
              <a:srgbClr val="D5CDBE"/>
            </a:solidFill>
            <a:prstDash val="solid"/>
          </a:ln>
        </p:spPr>
      </p:sp>
      <p:sp>
        <p:nvSpPr>
          <p:cNvPr id="6" name="Text 3"/>
          <p:cNvSpPr/>
          <p:nvPr/>
        </p:nvSpPr>
        <p:spPr>
          <a:xfrm>
            <a:off x="878957" y="3262610"/>
            <a:ext cx="5861896"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45309"/>
                </a:solidFill>
                <a:latin typeface="Funnel Display" pitchFamily="34" charset="0"/>
                <a:ea typeface="Funnel Display" pitchFamily="34" charset="-122"/>
                <a:cs typeface="Funnel Display" pitchFamily="34" charset="-120"/>
              </a:rPr>
              <a:t>Insight</a:t>
            </a:r>
            <a:endParaRPr lang="en-US" sz="1600" dirty="0"/>
          </a:p>
        </p:txBody>
      </p:sp>
      <p:sp>
        <p:nvSpPr>
          <p:cNvPr id="7" name="Text 4"/>
          <p:cNvSpPr/>
          <p:nvPr/>
        </p:nvSpPr>
        <p:spPr>
          <a:xfrm>
            <a:off x="878957" y="3623965"/>
            <a:ext cx="5861896" cy="837605"/>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Subscription penetration among repeat buyers is only marginally higher than among less frequent buyers, so loyalty is not translating into subscriptions at scale.</a:t>
            </a:r>
            <a:endParaRPr lang="en-US" sz="1350" dirty="0"/>
          </a:p>
        </p:txBody>
      </p:sp>
      <p:sp>
        <p:nvSpPr>
          <p:cNvPr id="8" name="Shape 5"/>
          <p:cNvSpPr/>
          <p:nvPr/>
        </p:nvSpPr>
        <p:spPr>
          <a:xfrm>
            <a:off x="698086" y="4816971"/>
            <a:ext cx="6223638" cy="1560711"/>
          </a:xfrm>
          <a:prstGeom prst="roundRect">
            <a:avLst>
              <a:gd name="adj" fmla="val 4697"/>
            </a:avLst>
          </a:prstGeom>
          <a:solidFill>
            <a:srgbClr val="FAF5EB"/>
          </a:solidFill>
          <a:ln w="6350">
            <a:solidFill>
              <a:srgbClr val="D5CDBE"/>
            </a:solidFill>
            <a:prstDash val="solid"/>
          </a:ln>
        </p:spPr>
      </p:sp>
      <p:sp>
        <p:nvSpPr>
          <p:cNvPr id="9" name="Text 6"/>
          <p:cNvSpPr/>
          <p:nvPr/>
        </p:nvSpPr>
        <p:spPr>
          <a:xfrm>
            <a:off x="878957" y="4997847"/>
            <a:ext cx="5861896" cy="256679"/>
          </a:xfrm>
          <a:prstGeom prst="rect">
            <a:avLst/>
          </a:prstGeom>
          <a:noFill/>
          <a:ln/>
        </p:spPr>
        <p:txBody>
          <a:bodyPr wrap="none" lIns="0" tIns="0" rIns="0" bIns="0" rtlCol="0" anchor="t"/>
          <a:lstStyle/>
          <a:p>
            <a:pPr algn="l" indent="0" marL="0">
              <a:lnSpc>
                <a:spcPct val="104000"/>
              </a:lnSpc>
              <a:buNone/>
            </a:pPr>
            <a:r>
              <a:rPr lang="en-US" sz="1600" spc="-27" kern="100" dirty="0">
                <a:solidFill>
                  <a:srgbClr val="B45309"/>
                </a:solidFill>
                <a:latin typeface="Funnel Display" pitchFamily="34" charset="0"/>
                <a:ea typeface="Funnel Display" pitchFamily="34" charset="-122"/>
                <a:cs typeface="Funnel Display" pitchFamily="34" charset="-120"/>
              </a:rPr>
              <a:t>Action</a:t>
            </a:r>
            <a:endParaRPr lang="en-US" sz="1600" dirty="0"/>
          </a:p>
        </p:txBody>
      </p:sp>
      <p:sp>
        <p:nvSpPr>
          <p:cNvPr id="10" name="Text 7"/>
          <p:cNvSpPr/>
          <p:nvPr/>
        </p:nvSpPr>
        <p:spPr>
          <a:xfrm>
            <a:off x="878957" y="5359202"/>
            <a:ext cx="5861896" cy="837605"/>
          </a:xfrm>
          <a:prstGeom prst="rect">
            <a:avLst/>
          </a:prstGeom>
          <a:noFill/>
          <a:ln/>
        </p:spPr>
        <p:txBody>
          <a:bodyPr wrap="square" lIns="0" tIns="0" rIns="0" bIns="0" rtlCol="0" anchor="t">
            <a:normAutofit/>
          </a:bodyPr>
          <a:lstStyle/>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Run targeted subscription offers to repeat (but unsubscribed) buyers and test redesigned benefits (free/Express shipping, early access, bundles) to lift spend and retention.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1317868"/>
            <a:ext cx="6223638" cy="1026517"/>
          </a:xfrm>
          <a:prstGeom prst="rect">
            <a:avLst/>
          </a:prstGeom>
          <a:noFill/>
          <a:ln/>
        </p:spPr>
        <p:txBody>
          <a:bodyPr wrap="square" lIns="0" tIns="0" rIns="0" bIns="0" rtlCol="0" anchor="t">
            <a:normAutofit/>
          </a:bodyPr>
          <a:lstStyle/>
          <a:p>
            <a:pPr algn="l" indent="0" marL="0">
              <a:lnSpc>
                <a:spcPct val="104000"/>
              </a:lnSpc>
              <a:buNone/>
            </a:pPr>
            <a:r>
              <a:rPr lang="en-US" sz="3200" b="1" spc="-27" kern="100" dirty="0">
                <a:solidFill>
                  <a:srgbClr val="B5651D"/>
                </a:solidFill>
                <a:latin typeface="Funnel Display Bold" pitchFamily="34" charset="0"/>
                <a:ea typeface="Funnel Display Bold" pitchFamily="34" charset="-122"/>
                <a:cs typeface="Funnel Display Bold" pitchFamily="34" charset="-120"/>
              </a:rPr>
              <a:t>Power BI Dashboard — Structure &amp; Use</a:t>
            </a:r>
            <a:endParaRPr lang="en-US" sz="3200" dirty="0"/>
          </a:p>
        </p:txBody>
      </p:sp>
      <p:sp>
        <p:nvSpPr>
          <p:cNvPr id="4" name="Text 1"/>
          <p:cNvSpPr/>
          <p:nvPr/>
        </p:nvSpPr>
        <p:spPr>
          <a:xfrm>
            <a:off x="698086" y="2578894"/>
            <a:ext cx="6223638" cy="2988370"/>
          </a:xfrm>
          <a:prstGeom prst="rect">
            <a:avLst/>
          </a:prstGeom>
          <a:noFill/>
          <a:ln/>
        </p:spPr>
        <p:txBody>
          <a:bodyPr wrap="square" lIns="0" tIns="0" rIns="0" bIns="0" rtlCol="0" anchor="t">
            <a:normAutofit/>
          </a:bodyPr>
          <a:lstStyle/>
          <a:p>
            <a:pPr algn="l" indent="0" marL="0">
              <a:lnSpc>
                <a:spcPct val="133000"/>
              </a:lnSpc>
              <a:spcAft>
                <a:spcPts val="1500"/>
              </a:spcAft>
              <a:buNone/>
            </a:pPr>
            <a:r>
              <a:rPr lang="en-US" sz="1350" spc="-27" kern="100" dirty="0">
                <a:solidFill>
                  <a:srgbClr val="2B3541"/>
                </a:solidFill>
                <a:latin typeface="Funnel Sans" pitchFamily="34" charset="0"/>
                <a:ea typeface="Funnel Sans" pitchFamily="34" charset="-122"/>
                <a:cs typeface="Funnel Sans" pitchFamily="34" charset="-120"/>
              </a:rPr>
              <a:t>An interactive Customer Behavior Analytics Dashboard was built with headline KPI cards (3.9K customers; avg purchase $59.76; avg rating 3.75), slicers (Gender, Subscribers, Category, Shipping) and visualisations: subscription donut, revenue by category, revenue across shipping types, revenue by age band, and payment-method trends. Revenue by category: Clothing $104,264; Accessories $74,200; Footwear $36,093; Outerwear $18,524. Shipping revenue is spread across six options with Free Shipping largest at $40,777. Payment methods cluster around $37–$40K each.</a:t>
            </a:r>
            <a:endParaRPr lang="en-US" sz="1350" dirty="0"/>
          </a:p>
          <a:p>
            <a:pPr algn="l" indent="0" marL="0">
              <a:lnSpc>
                <a:spcPct val="133000"/>
              </a:lnSpc>
              <a:buNone/>
            </a:pPr>
            <a:r>
              <a:rPr lang="en-US" sz="1350" spc="-27" kern="100" dirty="0">
                <a:solidFill>
                  <a:srgbClr val="2B3541"/>
                </a:solidFill>
                <a:latin typeface="Funnel Sans" pitchFamily="34" charset="0"/>
                <a:ea typeface="Funnel Sans" pitchFamily="34" charset="-122"/>
                <a:cs typeface="Funnel Sans" pitchFamily="34" charset="-120"/>
              </a:rPr>
              <a:t>Stakeholders can filter by segment to inspect KPIs, spot under-performing groups, and test hypotheses without technical support.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98086" y="565582"/>
            <a:ext cx="10795524" cy="441127"/>
          </a:xfrm>
          <a:prstGeom prst="rect">
            <a:avLst/>
          </a:prstGeom>
          <a:noFill/>
          <a:ln/>
        </p:spPr>
        <p:txBody>
          <a:bodyPr wrap="none" lIns="0" tIns="0" rIns="0" bIns="0" rtlCol="0" anchor="t"/>
          <a:lstStyle/>
          <a:p>
            <a:pPr algn="l" indent="0" marL="0">
              <a:lnSpc>
                <a:spcPct val="104000"/>
              </a:lnSpc>
              <a:buNone/>
            </a:pPr>
            <a:r>
              <a:rPr lang="en-US" sz="2750" spc="-24" kern="100" dirty="0">
                <a:solidFill>
                  <a:srgbClr val="051D3A"/>
                </a:solidFill>
                <a:latin typeface="Funnel Display" pitchFamily="34" charset="0"/>
                <a:ea typeface="Funnel Display" pitchFamily="34" charset="-122"/>
                <a:cs typeface="Funnel Display" pitchFamily="34" charset="-120"/>
              </a:rPr>
              <a:t>Conclusions, Recommendations &amp; Next Steps</a:t>
            </a:r>
            <a:endParaRPr lang="en-US" sz="2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241425"/>
            <a:ext cx="3512554" cy="4386263"/>
          </a:xfrm>
          <a:prstGeom prst="rect">
            <a:avLst/>
          </a:prstGeom>
        </p:spPr>
      </p:pic>
      <p:sp>
        <p:nvSpPr>
          <p:cNvPr id="4" name="Text 1"/>
          <p:cNvSpPr/>
          <p:nvPr/>
        </p:nvSpPr>
        <p:spPr>
          <a:xfrm>
            <a:off x="943249" y="1410395"/>
            <a:ext cx="3098425" cy="220563"/>
          </a:xfrm>
          <a:prstGeom prst="rect">
            <a:avLst/>
          </a:prstGeom>
          <a:noFill/>
          <a:ln/>
        </p:spPr>
        <p:txBody>
          <a:bodyPr wrap="none" lIns="0" tIns="0" rIns="0" bIns="0" rtlCol="0" anchor="t"/>
          <a:lstStyle/>
          <a:p>
            <a:pPr algn="l" indent="0" marL="0">
              <a:lnSpc>
                <a:spcPct val="104000"/>
              </a:lnSpc>
              <a:buNone/>
            </a:pPr>
            <a:r>
              <a:rPr lang="en-US" sz="1350" spc="-24" kern="100" dirty="0">
                <a:solidFill>
                  <a:srgbClr val="C0603A"/>
                </a:solidFill>
                <a:latin typeface="Funnel Display" pitchFamily="34" charset="0"/>
                <a:ea typeface="Funnel Display" pitchFamily="34" charset="-122"/>
                <a:cs typeface="Funnel Display" pitchFamily="34" charset="-120"/>
              </a:rPr>
              <a:t>Summary Conclusion</a:t>
            </a:r>
            <a:endParaRPr lang="en-US" sz="1350" dirty="0"/>
          </a:p>
        </p:txBody>
      </p:sp>
      <p:sp>
        <p:nvSpPr>
          <p:cNvPr id="5" name="Text 2"/>
          <p:cNvSpPr/>
          <p:nvPr/>
        </p:nvSpPr>
        <p:spPr>
          <a:xfrm>
            <a:off x="943249" y="1708249"/>
            <a:ext cx="3098425" cy="2008287"/>
          </a:xfrm>
          <a:prstGeom prst="rect">
            <a:avLst/>
          </a:prstGeom>
          <a:noFill/>
          <a:ln/>
        </p:spPr>
        <p:txBody>
          <a:bodyPr wrap="square" lIns="0" tIns="0" rIns="0" bIns="0" rtlCol="0" anchor="t">
            <a:normAutofit/>
          </a:bodyPr>
          <a:lstStyle/>
          <a:p>
            <a:pPr algn="l" indent="0" marL="0">
              <a:lnSpc>
                <a:spcPct val="124000"/>
              </a:lnSpc>
              <a:buNone/>
            </a:pPr>
            <a:r>
              <a:rPr lang="en-US" sz="1150" spc="-24" kern="100" dirty="0">
                <a:solidFill>
                  <a:srgbClr val="2B3541"/>
                </a:solidFill>
                <a:latin typeface="Funnel Sans" pitchFamily="34" charset="0"/>
                <a:ea typeface="Funnel Sans" pitchFamily="34" charset="-122"/>
                <a:cs typeface="Funnel Sans" pitchFamily="34" charset="-120"/>
              </a:rPr>
              <a:t>The customer base is loyal and mature but narrow: male-driven revenue is a volume effect; discounts and subscriptions do not meaningfully change spend per transaction; new-customer inflow is weak. Highest-impact opportunities are acquisition, growing the female segment, converting unsubscribed repeat buyers and redesigning subscription benefits.</a:t>
            </a:r>
            <a:endParaRPr lang="en-US" sz="11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521" y="1241425"/>
            <a:ext cx="3512554" cy="4386263"/>
          </a:xfrm>
          <a:prstGeom prst="rect">
            <a:avLst/>
          </a:prstGeom>
        </p:spPr>
      </p:pic>
      <p:sp>
        <p:nvSpPr>
          <p:cNvPr id="7" name="Text 3"/>
          <p:cNvSpPr/>
          <p:nvPr/>
        </p:nvSpPr>
        <p:spPr>
          <a:xfrm>
            <a:off x="4584685" y="1410395"/>
            <a:ext cx="3098425" cy="220563"/>
          </a:xfrm>
          <a:prstGeom prst="rect">
            <a:avLst/>
          </a:prstGeom>
          <a:noFill/>
          <a:ln/>
        </p:spPr>
        <p:txBody>
          <a:bodyPr wrap="none" lIns="0" tIns="0" rIns="0" bIns="0" rtlCol="0" anchor="t"/>
          <a:lstStyle/>
          <a:p>
            <a:pPr algn="l" indent="0" marL="0">
              <a:lnSpc>
                <a:spcPct val="104000"/>
              </a:lnSpc>
              <a:buNone/>
            </a:pPr>
            <a:r>
              <a:rPr lang="en-US" sz="1350" spc="-24" kern="100" dirty="0">
                <a:solidFill>
                  <a:srgbClr val="C0603A"/>
                </a:solidFill>
                <a:latin typeface="Funnel Display" pitchFamily="34" charset="0"/>
                <a:ea typeface="Funnel Display" pitchFamily="34" charset="-122"/>
                <a:cs typeface="Funnel Display" pitchFamily="34" charset="-120"/>
              </a:rPr>
              <a:t>Key Recommendations</a:t>
            </a:r>
            <a:endParaRPr lang="en-US" sz="1350" dirty="0"/>
          </a:p>
        </p:txBody>
      </p:sp>
      <p:sp>
        <p:nvSpPr>
          <p:cNvPr id="8" name="Text 4"/>
          <p:cNvSpPr/>
          <p:nvPr/>
        </p:nvSpPr>
        <p:spPr>
          <a:xfrm>
            <a:off x="4584685" y="1708249"/>
            <a:ext cx="3098425" cy="3750469"/>
          </a:xfrm>
          <a:prstGeom prst="rect">
            <a:avLst/>
          </a:prstGeom>
          <a:noFill/>
          <a:ln/>
        </p:spPr>
        <p:txBody>
          <a:bodyPr wrap="square" lIns="0" tIns="0" rIns="0" bIns="0" rtlCol="0" anchor="t">
            <a:normAutofit/>
          </a:bodyPr>
          <a:lstStyle/>
          <a:p>
            <a:pPr algn="l" marL="233680" indent="-233680">
              <a:lnSpc>
                <a:spcPct val="124000"/>
              </a:lnSpc>
              <a:buSzPct val="100000"/>
              <a:buChar char="•"/>
            </a:pPr>
            <a:r>
              <a:rPr lang="en-US" sz="1150" spc="-24" kern="100" dirty="0">
                <a:solidFill>
                  <a:srgbClr val="2B3541"/>
                </a:solidFill>
                <a:latin typeface="Funnel Sans" pitchFamily="34" charset="0"/>
                <a:ea typeface="Funnel Sans" pitchFamily="34" charset="-122"/>
                <a:cs typeface="Funnel Sans" pitchFamily="34" charset="-120"/>
              </a:rPr>
              <a:t>Invest in acquisition and referral campaigns to increase new customers.</a:t>
            </a:r>
            <a:endParaRPr lang="en-US" sz="1150" dirty="0"/>
          </a:p>
          <a:p>
            <a:pPr algn="l" marL="233680" indent="-233680">
              <a:lnSpc>
                <a:spcPct val="124000"/>
              </a:lnSpc>
              <a:buSzPct val="100000"/>
              <a:buChar char="•"/>
            </a:pPr>
            <a:r>
              <a:rPr lang="en-US" sz="1150" spc="-24" kern="100" dirty="0">
                <a:solidFill>
                  <a:srgbClr val="2B3541"/>
                </a:solidFill>
                <a:latin typeface="Funnel Sans" pitchFamily="34" charset="0"/>
                <a:ea typeface="Funnel Sans" pitchFamily="34" charset="-122"/>
                <a:cs typeface="Funnel Sans" pitchFamily="34" charset="-120"/>
              </a:rPr>
              <a:t>Target marketing to grow the female customer base (assortment and promotions).</a:t>
            </a:r>
            <a:endParaRPr lang="en-US" sz="1150" dirty="0"/>
          </a:p>
          <a:p>
            <a:pPr algn="l" marL="233680" indent="-233680">
              <a:lnSpc>
                <a:spcPct val="124000"/>
              </a:lnSpc>
              <a:buSzPct val="100000"/>
              <a:buChar char="•"/>
            </a:pPr>
            <a:r>
              <a:rPr lang="en-US" sz="1150" spc="-24" kern="100" dirty="0">
                <a:solidFill>
                  <a:srgbClr val="2B3541"/>
                </a:solidFill>
                <a:latin typeface="Funnel Sans" pitchFamily="34" charset="0"/>
                <a:ea typeface="Funnel Sans" pitchFamily="34" charset="-122"/>
                <a:cs typeface="Funnel Sans" pitchFamily="34" charset="-120"/>
              </a:rPr>
              <a:t>Keep discounts but target high-spend discount users and review discount dependence for certain SKUs (Hat, Sneakers, Coat, Sweater, Pants).</a:t>
            </a:r>
            <a:endParaRPr lang="en-US" sz="1150" dirty="0"/>
          </a:p>
          <a:p>
            <a:pPr algn="l" marL="233680" indent="-233680">
              <a:lnSpc>
                <a:spcPct val="124000"/>
              </a:lnSpc>
              <a:buSzPct val="100000"/>
              <a:buChar char="•"/>
            </a:pPr>
            <a:r>
              <a:rPr lang="en-US" sz="1150" spc="-24" kern="100" dirty="0">
                <a:solidFill>
                  <a:srgbClr val="2B3541"/>
                </a:solidFill>
                <a:latin typeface="Funnel Sans" pitchFamily="34" charset="0"/>
                <a:ea typeface="Funnel Sans" pitchFamily="34" charset="-122"/>
                <a:cs typeface="Funnel Sans" pitchFamily="34" charset="-120"/>
              </a:rPr>
              <a:t>Launch a subscription campaign aimed at ~2,500 unsubscribed repeat buyers and redesign subscriber benefits (free/Express shipping, early access, bundles).</a:t>
            </a:r>
            <a:endParaRPr lang="en-US" sz="1150" dirty="0"/>
          </a:p>
          <a:p>
            <a:pPr algn="l" marL="233680" indent="-233680">
              <a:lnSpc>
                <a:spcPct val="124000"/>
              </a:lnSpc>
              <a:buSzPct val="100000"/>
              <a:buChar char="•"/>
            </a:pPr>
            <a:r>
              <a:rPr lang="en-US" sz="1150" spc="-24" kern="100" dirty="0">
                <a:solidFill>
                  <a:srgbClr val="2B3541"/>
                </a:solidFill>
                <a:latin typeface="Funnel Sans" pitchFamily="34" charset="0"/>
                <a:ea typeface="Funnel Sans" pitchFamily="34" charset="-122"/>
                <a:cs typeface="Funnel Sans" pitchFamily="34" charset="-120"/>
              </a:rPr>
              <a:t>Promote Express shipping at checkout to capture slightly higher spend and review Outerwear assortment (only two items).</a:t>
            </a:r>
            <a:endParaRPr lang="en-US" sz="11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80957" y="1241425"/>
            <a:ext cx="3512653" cy="4386263"/>
          </a:xfrm>
          <a:prstGeom prst="rect">
            <a:avLst/>
          </a:prstGeom>
        </p:spPr>
      </p:pic>
      <p:sp>
        <p:nvSpPr>
          <p:cNvPr id="10" name="Text 5"/>
          <p:cNvSpPr/>
          <p:nvPr/>
        </p:nvSpPr>
        <p:spPr>
          <a:xfrm>
            <a:off x="8226120" y="1410395"/>
            <a:ext cx="3098524" cy="220563"/>
          </a:xfrm>
          <a:prstGeom prst="rect">
            <a:avLst/>
          </a:prstGeom>
          <a:noFill/>
          <a:ln/>
        </p:spPr>
        <p:txBody>
          <a:bodyPr wrap="none" lIns="0" tIns="0" rIns="0" bIns="0" rtlCol="0" anchor="t"/>
          <a:lstStyle/>
          <a:p>
            <a:pPr algn="l" indent="0" marL="0">
              <a:lnSpc>
                <a:spcPct val="104000"/>
              </a:lnSpc>
              <a:buNone/>
            </a:pPr>
            <a:r>
              <a:rPr lang="en-US" sz="1350" spc="-24" kern="100" dirty="0">
                <a:solidFill>
                  <a:srgbClr val="C0603A"/>
                </a:solidFill>
                <a:latin typeface="Funnel Display" pitchFamily="34" charset="0"/>
                <a:ea typeface="Funnel Display" pitchFamily="34" charset="-122"/>
                <a:cs typeface="Funnel Display" pitchFamily="34" charset="-120"/>
              </a:rPr>
              <a:t>Limitations &amp; Next Steps</a:t>
            </a:r>
            <a:endParaRPr lang="en-US" sz="1350" dirty="0"/>
          </a:p>
        </p:txBody>
      </p:sp>
      <p:sp>
        <p:nvSpPr>
          <p:cNvPr id="11" name="Text 6"/>
          <p:cNvSpPr/>
          <p:nvPr/>
        </p:nvSpPr>
        <p:spPr>
          <a:xfrm>
            <a:off x="8226120" y="1708249"/>
            <a:ext cx="3098524" cy="1785144"/>
          </a:xfrm>
          <a:prstGeom prst="rect">
            <a:avLst/>
          </a:prstGeom>
          <a:noFill/>
          <a:ln/>
        </p:spPr>
        <p:txBody>
          <a:bodyPr wrap="square" lIns="0" tIns="0" rIns="0" bIns="0" rtlCol="0" anchor="t">
            <a:normAutofit/>
          </a:bodyPr>
          <a:lstStyle/>
          <a:p>
            <a:pPr algn="l" indent="0" marL="0">
              <a:lnSpc>
                <a:spcPct val="124000"/>
              </a:lnSpc>
              <a:buNone/>
            </a:pPr>
            <a:r>
              <a:rPr lang="en-US" sz="1150" spc="-24" kern="100" dirty="0">
                <a:solidFill>
                  <a:srgbClr val="2B3541"/>
                </a:solidFill>
                <a:latin typeface="Funnel Sans" pitchFamily="34" charset="0"/>
                <a:ea typeface="Funnel Sans" pitchFamily="34" charset="-122"/>
                <a:cs typeface="Funnel Sans" pitchFamily="34" charset="-120"/>
              </a:rPr>
              <a:t>Limitations: small differences lack statistical tests; no transaction dates (no time-series or CLV); no channel or margin data. Next steps: add date, channel and margin data; run statistical testing; expand dashboard with trends and segment views; explore predictive models (subscription propensity, churn) once time-based data is available.</a:t>
            </a:r>
            <a:endParaRPr lang="en-US" sz="1150" dirty="0"/>
          </a:p>
        </p:txBody>
      </p:sp>
      <p:sp>
        <p:nvSpPr>
          <p:cNvPr id="12" name="Shape 7"/>
          <p:cNvSpPr/>
          <p:nvPr/>
        </p:nvSpPr>
        <p:spPr>
          <a:xfrm>
            <a:off x="698086" y="5772646"/>
            <a:ext cx="10795524" cy="542826"/>
          </a:xfrm>
          <a:prstGeom prst="roundRect">
            <a:avLst>
              <a:gd name="adj" fmla="val 11606"/>
            </a:avLst>
          </a:prstGeom>
          <a:solidFill>
            <a:srgbClr val="D8E7F3"/>
          </a:solidFill>
          <a:ln/>
        </p:spPr>
      </p:sp>
      <p:pic>
        <p:nvPicPr>
          <p:cNvPr id="13" name="Image 3" descr="preencoded.png">    </p:cNvPr>
          <p:cNvPicPr>
            <a:picLocks noChangeAspect="1"/>
          </p:cNvPicPr>
          <p:nvPr/>
        </p:nvPicPr>
        <p:blipFill>
          <a:blip r:embed="rId7"/>
          <a:stretch>
            <a:fillRect/>
          </a:stretch>
        </p:blipFill>
        <p:spPr>
          <a:xfrm>
            <a:off x="848001" y="5960070"/>
            <a:ext cx="187420" cy="149920"/>
          </a:xfrm>
          <a:prstGeom prst="rect">
            <a:avLst/>
          </a:prstGeom>
        </p:spPr>
      </p:pic>
      <p:sp>
        <p:nvSpPr>
          <p:cNvPr id="14" name="Text 8"/>
          <p:cNvSpPr/>
          <p:nvPr/>
        </p:nvSpPr>
        <p:spPr>
          <a:xfrm>
            <a:off x="1185337" y="5940305"/>
            <a:ext cx="10767942" cy="223143"/>
          </a:xfrm>
          <a:prstGeom prst="rect">
            <a:avLst/>
          </a:prstGeom>
          <a:noFill/>
          <a:ln/>
        </p:spPr>
        <p:txBody>
          <a:bodyPr wrap="none" lIns="0" tIns="0" rIns="0" bIns="0" rtlCol="0" anchor="t"/>
          <a:lstStyle/>
          <a:p>
            <a:pPr algn="l" indent="0" marL="0">
              <a:lnSpc>
                <a:spcPct val="124000"/>
              </a:lnSpc>
              <a:buNone/>
            </a:pPr>
            <a:r>
              <a:rPr lang="en-US" sz="1150" spc="-24" kern="100" dirty="0">
                <a:solidFill>
                  <a:srgbClr val="000000"/>
                </a:solidFill>
                <a:latin typeface="Funnel Sans" pitchFamily="34" charset="0"/>
                <a:ea typeface="Funnel Sans" pitchFamily="34" charset="-122"/>
                <a:cs typeface="Funnel Sans" pitchFamily="34" charset="-120"/>
              </a:rPr>
              <a:t>Priority next step: target the ~2,500 unsubscribed repeat buyers with a measured subscription offer and A/B test redesigned benefits.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2026-10-20T11:14:17Z</dcterms:created>
  <dcterms:modified xsi:type="dcterms:W3CDTF">2026-10-20T11:14:17Z</dcterms:modified>
</cp:coreProperties>
</file>